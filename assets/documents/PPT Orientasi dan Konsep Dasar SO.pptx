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06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0" cy="0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0" cy="0"/>
          </a:xfrm>
          <a:prstGeom prst="rect">
            <a:avLst/>
          </a:prstGeom>
          <a:solidFill>
            <a:srgbClr val="285C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0" cy="0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92040"/>
            <a:ext cx="0" cy="0"/>
          </a:xfrm>
          <a:prstGeom prst="rect">
            <a:avLst/>
          </a:prstGeom>
          <a:solidFill>
            <a:srgbClr val="22C1E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4514"/>
            <a:ext cx="12191695" cy="6858000"/>
          </a:xfrm>
          <a:prstGeom prst="rect">
            <a:avLst/>
          </a:prstGeom>
          <a:solidFill>
            <a:srgbClr val="16274D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7" name="Shape 5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-365760"/>
            <a:ext cx="2194560" cy="2194560"/>
          </a:xfrm>
          <a:prstGeom prst="ellipse">
            <a:avLst/>
          </a:prstGeom>
          <a:solidFill>
            <a:srgbClr val="234B7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PEMBELAJARAN PPLG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Operasi Komputer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 &amp; Konsep Dasar — Peran, Arsitektur, Fungsi Utama, dan Antarmuka Sistem Operasi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0" cy="1051560"/>
          </a:xfrm>
          <a:prstGeom prst="line">
            <a:avLst/>
          </a:prstGeom>
          <a:noFill/>
          <a:ln w="12700">
            <a:solidFill>
              <a:srgbClr val="355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9776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PELAJARAN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Dasar-dasar PPLG / Informatika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3977640"/>
            <a:ext cx="0" cy="1051560"/>
          </a:xfrm>
          <a:prstGeom prst="line">
            <a:avLst/>
          </a:prstGeom>
          <a:noFill/>
          <a:ln w="12700">
            <a:solidFill>
              <a:srgbClr val="3550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39776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/ FASE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42232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SMK / Fase 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977640"/>
            <a:ext cx="0" cy="1051560"/>
          </a:xfrm>
          <a:prstGeom prst="line">
            <a:avLst/>
          </a:prstGeom>
          <a:noFill/>
          <a:ln w="12700">
            <a:solidFill>
              <a:srgbClr val="355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39776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88352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 · 4 JP (180 menit)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Negeri 2 Banjarmasin  ·  Elemen: Teknologi Jaringan Komputer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Identitas &amp; Peta Materi Pembelajaran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 topik yang akan dipelajari hari ini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AF2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PEMBELAJARAN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 Pendidikan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Negeri 2 Banjarmasin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Pelajaran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Dasar-dasar Pengembangan Perangkat Lunak &amp; Gim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8892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Jaringan Komputer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/ Semester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I (Ganjil) — Tahun Ajar 2026/2027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800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8892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 dan Konsep Dasar Sistem Operasi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303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Pembelajaran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Learning · Pendekatan Saintifik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AKAN KITA PELAJARI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606040"/>
            <a:ext cx="384048" cy="38404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57860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Pengertian &amp; peran Sistem Operasi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3172968"/>
            <a:ext cx="384048" cy="384048"/>
          </a:xfrm>
          <a:prstGeom prst="ellipse">
            <a:avLst/>
          </a:prstGeom>
          <a:solidFill>
            <a:srgbClr val="22C1E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14553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hirarkis User – OS – Hardware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035040" y="3739896"/>
            <a:ext cx="384048" cy="38404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71246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fungsi utama Sistem Operasi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35040" y="4306824"/>
            <a:ext cx="384048" cy="384048"/>
          </a:xfrm>
          <a:prstGeom prst="ellipse">
            <a:avLst/>
          </a:prstGeom>
          <a:solidFill>
            <a:srgbClr val="22C1E0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427939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GUI vs CLI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035040" y="4873752"/>
            <a:ext cx="384048" cy="38404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4873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48463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Windows, Linux &amp; macOS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035040" y="5440680"/>
            <a:ext cx="384048" cy="384048"/>
          </a:xfrm>
          <a:prstGeom prst="ellipse">
            <a:avLst/>
          </a:prstGeom>
          <a:solidFill>
            <a:srgbClr val="22C1E0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541324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Sejarah evolusi Sistem Operasi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Pembelajaran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pembelajaran ini, peserta didik diharapkan mampu: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76200" dist="25400" dir="5400000" algn="bl" rotWithShape="0">
              <a:srgbClr val="9FB0C7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560320"/>
            <a:ext cx="731520" cy="731520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8" name="Image 0" descr="/home/claude/ppt_assets/icons/bullseye_22C1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249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35204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pengertian sistem operasi dengan bahasa sendiri secara tepat.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76200" dist="25400" dir="5400000" algn="bl" rotWithShape="0">
              <a:srgbClr val="9FB0C7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560320"/>
            <a:ext cx="731520" cy="731520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2" name="Image 1" descr="/home/claude/ppt_assets/icons/cogs_22C1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249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5204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fungsi utama sistem operasi bagi kerja komputer secara sistematis.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76200" dist="25400" dir="5400000" algn="bl" rotWithShape="0">
              <a:srgbClr val="9FB0C7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2560320"/>
            <a:ext cx="731520" cy="731520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6" name="Image 2" descr="/home/claude/ppt_assets/icons/comment_22C1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7249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5048" y="35204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Mengemukakan pendapat secara logis tentang dampak ketiadaan sistem operasi melalui diskusi dan analisis.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AF2FB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Taksonomi SOLO: </a:t>
            </a:r>
            <a:r>
              <a:rPr lang="en-US" sz="12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 — peserta didik mampu menyebutkan pengertian sistem operasi beserta satu fungsi utamanya secara tepat.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34B7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APERSEPSI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Kita Mulai...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241280" cy="1325880"/>
          </a:xfrm>
          <a:prstGeom prst="roundRect">
            <a:avLst>
              <a:gd name="adj" fmla="val 8276"/>
            </a:avLst>
          </a:prstGeom>
          <a:solidFill>
            <a:srgbClr val="1E3A66"/>
          </a:solidFill>
          <a:ln w="12700">
            <a:solidFill>
              <a:srgbClr val="2F5488"/>
            </a:solidFill>
            <a:prstDash val="solid"/>
          </a:ln>
        </p:spPr>
      </p:sp>
      <p:pic>
        <p:nvPicPr>
          <p:cNvPr id="7" name="Image 0" descr="/home/claude/ppt_assets/icons/question_22C1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8716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12848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Pernahkah kalian menyalakan komputer atau HP, lalu langsung bisa membuka aplikasi? Apa yang membuat hal itu bisa terjadi?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10241280" cy="1325880"/>
          </a:xfrm>
          <a:prstGeom prst="roundRect">
            <a:avLst>
              <a:gd name="adj" fmla="val 8276"/>
            </a:avLst>
          </a:prstGeom>
          <a:solidFill>
            <a:srgbClr val="1E3A66"/>
          </a:solidFill>
          <a:ln w="12700">
            <a:solidFill>
              <a:srgbClr val="2F5488"/>
            </a:solidFill>
            <a:prstDash val="solid"/>
          </a:ln>
        </p:spPr>
      </p:sp>
      <p:pic>
        <p:nvPicPr>
          <p:cNvPr id="10" name="Image 1" descr="/home/claude/ppt_assets/icons/question_22C1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87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813048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Menurut kalian, apa yang akan terjadi jika sebuah komputer tidak memiliki sistem operasi sama sekali?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 sejenak dengan teman sebangkumu sebelum kita lanjutkan materi.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Komputer Tanpa OS vs Dengan 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Amati perbedaan berikut — inilah gambaran peran sistem operasi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49240" cy="3840480"/>
          </a:xfrm>
          <a:prstGeom prst="roundRect">
            <a:avLst>
              <a:gd name="adj" fmla="val 3333"/>
            </a:avLst>
          </a:prstGeom>
          <a:solidFill>
            <a:srgbClr val="FBEAE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/home/claude/ppt_assets/icons/pow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06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514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SISTEM OPERASI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339242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2644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tetap gelap / hanya kode biner yang tampil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95935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8313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dapat menjalankan aplikasi apa pun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52628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3982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keras (CPU, RAM, storage) tidak terkoordinasi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509320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965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cara bagi pengguna untuk memberi perintah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2194560"/>
            <a:ext cx="5349240" cy="3840480"/>
          </a:xfrm>
          <a:prstGeom prst="roundRect">
            <a:avLst>
              <a:gd name="adj" fmla="val 3333"/>
            </a:avLst>
          </a:prstGeom>
          <a:solidFill>
            <a:srgbClr val="E7F6F0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0" y="2468880"/>
            <a:ext cx="640080" cy="640080"/>
          </a:xfrm>
          <a:prstGeom prst="ellipse">
            <a:avLst/>
          </a:prstGeom>
          <a:solidFill>
            <a:srgbClr val="1E8A5F"/>
          </a:solidFill>
          <a:ln/>
        </p:spPr>
      </p:sp>
      <p:pic>
        <p:nvPicPr>
          <p:cNvPr id="20" name="Image 1" descr="/home/claude/ppt_assets/icons/deskto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0604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2514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SISTEM OPERASI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583680" y="3392424"/>
            <a:ext cx="109728" cy="10972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2644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antarmuka (GUI/CLI) siap digunakan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3959352"/>
            <a:ext cx="109728" cy="10972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38313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dapat dibuka, dijalankan, dan dikendalikan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4526280"/>
            <a:ext cx="109728" cy="10972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43982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memori, dan file dikelola secara otomatis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83680" y="5093208"/>
            <a:ext cx="109728" cy="109728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4965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memberi perintah dengan mudah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Aktivitas Diskusi Kelompok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bersama kelompok (4–5 orang) pada Lembar Kerja Peserta Didik (LKPD 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731520"/>
          </a:xfrm>
          <a:prstGeom prst="roundRect">
            <a:avLst>
              <a:gd name="adj" fmla="val 12500"/>
            </a:avLst>
          </a:prstGeom>
          <a:solidFill>
            <a:srgbClr val="16274D"/>
          </a:solidFill>
          <a:ln/>
        </p:spPr>
      </p:sp>
      <p:pic>
        <p:nvPicPr>
          <p:cNvPr id="7" name="Image 0" descr="/home/claude/ppt_assets/icons/users_22C1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kelompok kecil berisi 4–5 orang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3255264"/>
            <a:ext cx="420624" cy="420624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31089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 pada komputer yang tidak memiliki sistem operasi? Jelaskan berdasarkan pengamatan tayangan ilustrasi.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95020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AF2FB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4096512"/>
            <a:ext cx="420624" cy="420624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395020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pengertian sistem operasi menggunakan bahasa kelompok kalian sendiri.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79145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AF2FB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4937760"/>
            <a:ext cx="420624" cy="420624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4937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479145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Sebutkan dan jelaskan minimal tiga fungsi utama sistem operasi yang kalian temukan.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63270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AF2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" y="5779008"/>
            <a:ext cx="420624" cy="420624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5779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5632704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sistem operasi disebut sebagai penghubung antara pengguna, perangkat lunak, dan perangkat keras?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Pengertian Sistem Operasi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492240" cy="2331720"/>
          </a:xfrm>
          <a:prstGeom prst="roundRect">
            <a:avLst>
              <a:gd name="adj" fmla="val 5490"/>
            </a:avLst>
          </a:prstGeom>
          <a:solidFill>
            <a:srgbClr val="EAF2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(Operating System / OS) </a:t>
            </a:r>
            <a:r>
              <a:rPr lang="en-US" sz="15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perangkat lunak sistem yang bertindak sebagai fondasi utama dan pengelola seluruh sumber daya fisik (hardware) maupun non-fisik (software) pada sebuah sistem komputer, sekaligus menjadi penghubung utama antara pengguna dan mesin komputer.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komponen inti OS yang menetap di memori utama dan mengontrol akses langsung ke hardware, aktif sejak booting hingga shutdown.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297680" cy="3977640"/>
          </a:xfrm>
          <a:prstGeom prst="roundRect">
            <a:avLst>
              <a:gd name="adj" fmla="val 3218"/>
            </a:avLst>
          </a:prstGeom>
          <a:solidFill>
            <a:srgbClr val="16274D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OS, KOMPUTER HANYALAH...</a:t>
            </a:r>
            <a:endParaRPr lang="en-US" sz="1050" dirty="0"/>
          </a:p>
        </p:txBody>
      </p:sp>
      <p:pic>
        <p:nvPicPr>
          <p:cNvPr id="10" name="Image 0" descr="/home/claude/ppt_assets/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69748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89520" y="3794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komponen elektronik mati yang tidak dapat mengeksekusi instruksi pengguna secara fleksibel.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 Sederhana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sebagai “Manajer Restoran Mewah”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377440"/>
            <a:ext cx="640080" cy="64008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8" name="Image 0" descr="/home/claude/ppt_assets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14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(User)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yang datang dan memesan makanan.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9000" y="214884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377440"/>
            <a:ext cx="640080" cy="64008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13" name="Image 1" descr="/home/claude/ppt_assets/icons/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514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(Software)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3657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makanan — Nasi Goreng, Es Teh, Steak.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214884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0528" y="2377440"/>
            <a:ext cx="640080" cy="64008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18" name="Image 2" descr="/home/claude/ppt_assets/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514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Keras (Hardware)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92240" y="3657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Koki, dapur, kompor, dan bahan makanan.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89720" y="214884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16274D"/>
          </a:solidFill>
          <a:ln w="12700">
            <a:solidFill>
              <a:srgbClr val="16274D"/>
            </a:solidFill>
            <a:prstDash val="solid"/>
          </a:ln>
          <a:effectLst>
            <a:outerShdw blurRad="63500" dist="25400" dir="5400000" algn="bl" rotWithShape="0">
              <a:srgbClr val="9FB0C7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90888" y="2377440"/>
            <a:ext cx="640080" cy="640080"/>
          </a:xfrm>
          <a:prstGeom prst="ellipse">
            <a:avLst/>
          </a:prstGeom>
          <a:solidFill>
            <a:srgbClr val="22C1E0"/>
          </a:solidFill>
          <a:ln/>
        </p:spPr>
      </p:sp>
      <p:pic>
        <p:nvPicPr>
          <p:cNvPr id="23" name="Image 3" descr="/home/claude/ppt_assets/icons/cogs_1627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48" y="25146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(OS)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372600" y="3657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/ pelayan restoran yang mengatur semuanya.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tidak langsung masuk ke dapur untuk memasak sendiri — semua permintaan disampaikan lewat Manajer (OS), yang mengatur koki mana yang memasak (manajemen CPU), piring mana yang dipakai (manajemen memori), dan memastikan bahan tidak saling bentrok (manajemen file &amp; keamanan).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Berlapis Sistem Komputer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berkedudukan sebagai lapisan perantara (middleware)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424160" cy="658368"/>
          </a:xfrm>
          <a:prstGeom prst="roundRect">
            <a:avLst>
              <a:gd name="adj" fmla="val 12500"/>
            </a:avLst>
          </a:prstGeom>
          <a:solidFill>
            <a:srgbClr val="16274D"/>
          </a:solidFill>
          <a:ln/>
        </p:spPr>
      </p:sp>
      <p:pic>
        <p:nvPicPr>
          <p:cNvPr id="7" name="Image 0" descr="/home/claude/ppt_assets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29514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48840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Pengguna (User / Operator)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5840" y="2935224"/>
            <a:ext cx="9509760" cy="658368"/>
          </a:xfrm>
          <a:prstGeom prst="roundRect">
            <a:avLst>
              <a:gd name="adj" fmla="val 12500"/>
            </a:avLst>
          </a:prstGeom>
          <a:solidFill>
            <a:srgbClr val="2F6FA6"/>
          </a:solidFill>
          <a:ln/>
        </p:spPr>
      </p:sp>
      <p:pic>
        <p:nvPicPr>
          <p:cNvPr id="10" name="Image 1" descr="/home/claude/ppt_assets/icons/deskto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30815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2935224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Aplikasi (Browser, VS Code, Word, Game Engine)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463040" y="3721608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22C1E0"/>
          </a:solidFill>
          <a:ln/>
        </p:spPr>
      </p:sp>
      <p:pic>
        <p:nvPicPr>
          <p:cNvPr id="13" name="Image 2" descr="/home/claude/ppt_assets/icons/cogs_1627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" y="38679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94560" y="37216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Sistem Operasi (OS Kernel) — Proses | Memori | File System | Security | I/O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920240" y="4507992"/>
            <a:ext cx="7680960" cy="658368"/>
          </a:xfrm>
          <a:prstGeom prst="roundRect">
            <a:avLst>
              <a:gd name="adj" fmla="val 12500"/>
            </a:avLst>
          </a:prstGeom>
          <a:solidFill>
            <a:srgbClr val="2F6FA6"/>
          </a:solidFill>
          <a:ln/>
        </p:spPr>
      </p:sp>
      <p:pic>
        <p:nvPicPr>
          <p:cNvPr id="16" name="Image 3" descr="/home/claude/ppt_assets/icons/keyboar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408" y="4654296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51760" y="4507992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Device Drivers (Penerjemah Protokol Perangkat Keras)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2377440" y="5294376"/>
            <a:ext cx="6766560" cy="658368"/>
          </a:xfrm>
          <a:prstGeom prst="roundRect">
            <a:avLst>
              <a:gd name="adj" fmla="val 12500"/>
            </a:avLst>
          </a:prstGeom>
          <a:solidFill>
            <a:srgbClr val="16274D"/>
          </a:solidFill>
          <a:ln/>
        </p:spPr>
      </p:sp>
      <p:pic>
        <p:nvPicPr>
          <p:cNvPr id="19" name="Image 4" descr="/home/claude/ppt_assets/icons/cpu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608" y="54406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108960" y="5294376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Perangkat Keras (CPU, RAM, SSD/HDD, GPU, NIC)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48640" y="61264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Gambar: Diagram Arsitektur Berlapis (Layered Architecture) Sistem Komputer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Eksekusi Instruksi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sisi abstrak (User Interface) hingga sinyal listrik pada sirkuit keras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EAF2FB"/>
          </a:solidFill>
          <a:ln w="19050">
            <a:solidFill>
              <a:srgbClr val="2F6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651760"/>
            <a:ext cx="731520" cy="73152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8" name="Image 0" descr="/home/claude/ppt_assets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28163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977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instruksi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87952" y="3703320"/>
            <a:ext cx="502920" cy="365760"/>
          </a:xfrm>
          <a:prstGeom prst="rightArrow">
            <a:avLst/>
          </a:prstGeom>
          <a:solidFill>
            <a:srgbClr val="22C1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237744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EAF2FB"/>
          </a:solidFill>
          <a:ln w="19050">
            <a:solidFill>
              <a:srgbClr val="1627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651760"/>
            <a:ext cx="731520" cy="731520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5" name="Image 1" descr="/home/claude/ppt_assets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81635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77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LAYER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3977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User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3776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Kernel (System Calls)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9872" y="3703320"/>
            <a:ext cx="502920" cy="365760"/>
          </a:xfrm>
          <a:prstGeom prst="rightArrow">
            <a:avLst/>
          </a:prstGeom>
          <a:solidFill>
            <a:srgbClr val="22C1E0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0" y="237744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EAF2F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966960" y="2651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2" descr="/home/claude/ppt_assets/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2" y="281635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968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869680" y="3977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86968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869680" y="4892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/ HDD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UTAMA 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Fungsi Utama Sistem Operasi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secara paralel demi menjamin kestabilan dan kinerja komputer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16274D"/>
          </a:solidFill>
          <a:ln/>
        </p:spPr>
      </p:sp>
      <p:sp>
        <p:nvSpPr>
          <p:cNvPr id="7" name="Shape 5"/>
          <p:cNvSpPr/>
          <p:nvPr/>
        </p:nvSpPr>
        <p:spPr>
          <a:xfrm>
            <a:off x="1572768" y="23500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_assets/icons/cpu_1627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47802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06624" y="2221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0632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Proses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0128" y="21488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2F6FA6"/>
          </a:solidFill>
          <a:ln/>
        </p:spPr>
      </p:sp>
      <p:sp>
        <p:nvSpPr>
          <p:cNvPr id="12" name="Shape 9"/>
          <p:cNvSpPr/>
          <p:nvPr/>
        </p:nvSpPr>
        <p:spPr>
          <a:xfrm>
            <a:off x="4334256" y="23500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_assets/icons/memory_2F6F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47802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2221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19856" y="30632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Memori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71616" y="21488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22C1E0"/>
          </a:solidFill>
          <a:ln/>
        </p:spPr>
      </p:sp>
      <p:sp>
        <p:nvSpPr>
          <p:cNvPr id="17" name="Shape 13"/>
          <p:cNvSpPr/>
          <p:nvPr/>
        </p:nvSpPr>
        <p:spPr>
          <a:xfrm>
            <a:off x="7095744" y="2350008"/>
            <a:ext cx="566928" cy="566928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8" name="Image 2" descr="/home/claude/ppt_assets/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47802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2221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81344" y="30632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Berkas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833104" y="21488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16274D"/>
          </a:solidFill>
          <a:ln/>
        </p:spPr>
      </p:sp>
      <p:sp>
        <p:nvSpPr>
          <p:cNvPr id="22" name="Shape 17"/>
          <p:cNvSpPr/>
          <p:nvPr/>
        </p:nvSpPr>
        <p:spPr>
          <a:xfrm>
            <a:off x="9857232" y="23500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ppt_assets/icons/keyboard_1627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247802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91088" y="2221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942832" y="30632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I/O &amp; Driver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11480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2F6FA6"/>
          </a:solidFill>
          <a:ln/>
        </p:spPr>
      </p:sp>
      <p:sp>
        <p:nvSpPr>
          <p:cNvPr id="27" name="Shape 21"/>
          <p:cNvSpPr/>
          <p:nvPr/>
        </p:nvSpPr>
        <p:spPr>
          <a:xfrm>
            <a:off x="1572768" y="43159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/home/claude/ppt_assets/icons/shield_2F6F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" y="4443984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706624" y="4187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58368" y="50292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Proteksi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10128" y="411480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22C1E0"/>
          </a:solidFill>
          <a:ln/>
        </p:spPr>
      </p:sp>
      <p:sp>
        <p:nvSpPr>
          <p:cNvPr id="32" name="Shape 25"/>
          <p:cNvSpPr/>
          <p:nvPr/>
        </p:nvSpPr>
        <p:spPr>
          <a:xfrm>
            <a:off x="4334256" y="4315968"/>
            <a:ext cx="566928" cy="566928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33" name="Image 5" descr="/home/claude/ppt_assets/icons/desktop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4443984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68112" y="4187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419856" y="50292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Pengguna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071616" y="411480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16274D"/>
          </a:solidFill>
          <a:ln/>
        </p:spPr>
      </p:sp>
      <p:sp>
        <p:nvSpPr>
          <p:cNvPr id="37" name="Shape 29"/>
          <p:cNvSpPr/>
          <p:nvPr/>
        </p:nvSpPr>
        <p:spPr>
          <a:xfrm>
            <a:off x="7095744" y="43159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6" descr="/home/claude/ppt_assets/icons/network_16274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4443984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229600" y="4187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6181344" y="50292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Jaringan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8833104" y="411480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EAF2FB"/>
          </a:solidFill>
          <a:ln/>
        </p:spPr>
      </p:sp>
      <p:sp>
        <p:nvSpPr>
          <p:cNvPr id="42" name="Text 33"/>
          <p:cNvSpPr/>
          <p:nvPr/>
        </p:nvSpPr>
        <p:spPr>
          <a:xfrm>
            <a:off x="8997696" y="425196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Ketujuh fungsi ini bekerja bersamaan setiap saat komputer menyala.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UTAMA 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Utama OS (1/2)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Proses · Memori · Berkas · Perangkat I/O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B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286000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8" name="Image 0" descr="/home/claude/ppt_assets/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4231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76272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Manajemen Proses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51960" y="2157984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penjadwalan eksekusi instruksi CPU (CPU Scheduling): alokasi waktu proses, sinkronisasi antarproses, hingga menghentikan aplikasi yang freeze/crash.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B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" y="3337560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13" name="Image 1" descr="/home/claude/ppt_assets/icons/mem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227832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Manajemen Memori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251960" y="3209544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Melacak penggunaan setiap byte RAM, mengalokasikan memori saat program dibuka, mengisolasi alamat agar tidak saling menimpa, dan membebaskannya saat program ditutup.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548640" y="420624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4389120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18" name="Image 2" descr="/home/claude/ppt_assets/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526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79392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Manajemen Berkas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251960" y="4261104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struktur penyimpanan data non-volatile (SSD/HDD) dalam folder &amp; berkas, mengontrol hak akses (Read/Write/Execute), dan menerapkan format seperti NTFS, FAT32, ext4, APFS.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548640" y="525780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B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5440680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23" name="Image 3" descr="/home/claude/ppt_assets/icons/keyboar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5778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5330952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Manajemen I/O &amp; Driver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251960" y="5312664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Menjembatani periferal (keyboard, mouse, printer, scanner) dengan software lewat Device Driver, menggunakan teknik Buffering, Spooling, dan Interrupt Handler.</a:t>
            </a:r>
            <a:endParaRPr lang="en-US" sz="113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UTAMA 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Utama OS (2/2)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· Antarmuka Pengguna · Jaringan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AF2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496312"/>
            <a:ext cx="566928" cy="566928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8" name="Image 0" descr="/home/claude/ppt_assets/icons/shield_22C1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33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0428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Keamanan &amp; Proteksi Sistem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63440" y="22860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Melindungi data dan program dari akses tidak sah: otentikasi (password, biometrik), kontrol hak akses (User Account Control / sudo), serta pemblokiran malware.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47872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AF2F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849624"/>
            <a:ext cx="566928" cy="566928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3" name="Image 1" descr="/home/claude/ppt_assets/icons/desktop_22C1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867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6576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Antarmuka Pengguna (GUI &amp; CLI)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63440" y="3639312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sarana komunikasi antara pengguna dan sistem — tampilan grafis (GUI) berbasis jendela &amp; ikon, atau sintaks perintah teks (CLI) untuk kontrol tingkat lanjut.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901184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AF2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5202936"/>
            <a:ext cx="566928" cy="566928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8" name="Image 2" descr="/home/claude/ppt_assets/icons/network_22C1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4009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5010912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Manajemen Jaringan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663440" y="4992624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protokol komunikasi (TCP/IP), pengaturan IP address, koneksi Wi-Fi/Ethernet, serta fasilitas berbagi sumber daya (file sharing, remote access) secara aman.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Antarmuka Pengguna: GUI vs CLI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cara utama manusia berinteraksi dengan sistem operasi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8" name="Image 0" descr="/home/claude/ppt_assets/icons/mou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328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423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(Graphical User Interface)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berbasis grafis: jendela (windows), ikon (icons), menu, dan penunjuk (pointer) — disingkat WIMP.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1330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Intuitif, mudah dipelajari pemula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4439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Visual menarik, responsif mouse/touch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54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Mendukung multitasking visual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543153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Boros RAM dan GPU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7424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Lambat untuk otomasi tugas masif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210312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16274D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0" y="2377440"/>
            <a:ext cx="640080" cy="640080"/>
          </a:xfrm>
          <a:prstGeom prst="ellipse">
            <a:avLst/>
          </a:prstGeom>
          <a:solidFill>
            <a:srgbClr val="22C1E0"/>
          </a:solidFill>
          <a:ln/>
        </p:spPr>
      </p:sp>
      <p:pic>
        <p:nvPicPr>
          <p:cNvPr id="20" name="Image 1" descr="/home/claude/ppt_assets/icons/terminal_1627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53288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2423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(Command Line Interface)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83680" y="3154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berbasis teks: pengguna mengetikkan instruksi/sintaks perintah pada layar terminal atau console.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583680" y="41330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Sangat ringan, hemat RAM &amp; CPU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83680" y="44439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Fleksibel untuk skrip otomasi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583680" y="4754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Stabil untuk manajemen server jarak jauh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58368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83680" y="543153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Kurva belajar curam (hafal sintaks)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583680" y="57424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Tampilan kurang menarik bagi awam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Sistem Operasi Utama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keluarga besar sistem operasi desktop &amp; laptop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420532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(Ubuntu/Debian)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macOS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Pengembang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Corporation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Komunitas Open Source &amp; Linus Torvalds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Inc.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Lisensi &amp; Biaya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(Berbayar)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(Gratis / GPL)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(Gratis dg. Hardware Apple)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Arsitektur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NT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 Linux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XNU Kernel (Berbasis Unix/Darwin)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Kemudahan Pakai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mudah, kompatibilitas luas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Sedang–Tinggi (tergantung distro)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mudah &amp; elegan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Keamanan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 (sering jadi sasaran malware)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tinggi, hak akses terisolasi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Tinggi, ekosistem tertutup (sandbox)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&amp; Gaming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luas, standar industri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 (meningkat via Proton/Steam)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 industri kreatif (desain/video)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SEJARAH 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Sejarah Evolusi Sistem Operasi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generasi perkembangan seiring evolusi teknologi perangkat keras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10835640" cy="0"/>
          </a:xfrm>
          <a:prstGeom prst="line">
            <a:avLst/>
          </a:prstGeom>
          <a:noFill/>
          <a:ln w="31750">
            <a:solidFill>
              <a:srgbClr val="D7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2889504"/>
            <a:ext cx="256032" cy="256032"/>
          </a:xfrm>
          <a:prstGeom prst="ellipse">
            <a:avLst/>
          </a:prstGeom>
          <a:solidFill>
            <a:srgbClr val="2F6F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1945–1955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OS &amp; Plugboards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dimasukkan manual via plugboard / kartu berlubang. Hanya satu tugas dalam satu waktu.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0" cy="182880"/>
          </a:xfrm>
          <a:prstGeom prst="line">
            <a:avLst/>
          </a:prstGeom>
          <a:noFill/>
          <a:ln w="19050">
            <a:solidFill>
              <a:srgbClr val="D7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6694" y="2889504"/>
            <a:ext cx="256032" cy="256032"/>
          </a:xfrm>
          <a:prstGeom prst="ellipse">
            <a:avLst/>
          </a:prstGeom>
          <a:solidFill>
            <a:srgbClr val="22C1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43150" y="32461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/>
        </p:spPr>
      </p:sp>
      <p:sp>
        <p:nvSpPr>
          <p:cNvPr id="15" name="Text 13"/>
          <p:cNvSpPr/>
          <p:nvPr/>
        </p:nvSpPr>
        <p:spPr>
          <a:xfrm>
            <a:off x="243459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1955–1965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3459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34590" y="39136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diperkenalkan. OS pertama menjalankan tugas berurutan (FMS, IBSYS).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394710" y="3145536"/>
            <a:ext cx="0" cy="128016"/>
          </a:xfrm>
          <a:prstGeom prst="line">
            <a:avLst/>
          </a:prstGeom>
          <a:noFill/>
          <a:ln w="19050">
            <a:solidFill>
              <a:srgbClr val="D7E3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5604" y="2889504"/>
            <a:ext cx="256032" cy="256032"/>
          </a:xfrm>
          <a:prstGeom prst="ellipse">
            <a:avLst/>
          </a:prstGeom>
          <a:solidFill>
            <a:srgbClr val="2F6F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2060" y="160020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1965–1980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 &amp; Timesharing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4350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Circuit (IC). Beberapa program berjalan sekaligus. UNIX lahir 1969 di Bell Labs.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103620" y="2834640"/>
            <a:ext cx="0" cy="182880"/>
          </a:xfrm>
          <a:prstGeom prst="line">
            <a:avLst/>
          </a:prstGeom>
          <a:noFill/>
          <a:ln w="19050">
            <a:solidFill>
              <a:srgbClr val="D7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4514" y="2889504"/>
            <a:ext cx="256032" cy="256032"/>
          </a:xfrm>
          <a:prstGeom prst="ellipse">
            <a:avLst/>
          </a:prstGeom>
          <a:solidFill>
            <a:srgbClr val="22C1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60970" y="32461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785241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1980–2000an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5241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GUI &amp; Personal Computer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52410" y="39136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MS-DOS, Macintosh (GUI komersial pertama), Windows, dan Linux (1991) oleh Linus Torvalds.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812530" y="3145536"/>
            <a:ext cx="0" cy="128016"/>
          </a:xfrm>
          <a:prstGeom prst="line">
            <a:avLst/>
          </a:prstGeom>
          <a:noFill/>
          <a:ln w="19050">
            <a:solidFill>
              <a:srgbClr val="D7E3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93424" y="2889504"/>
            <a:ext cx="256032" cy="256032"/>
          </a:xfrm>
          <a:prstGeom prst="ellipse">
            <a:avLst/>
          </a:prstGeom>
          <a:solidFill>
            <a:srgbClr val="2F6F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22815" y="160020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</p:spPr>
      </p:sp>
      <p:sp>
        <p:nvSpPr>
          <p:cNvPr id="33" name="Text 31"/>
          <p:cNvSpPr/>
          <p:nvPr/>
        </p:nvSpPr>
        <p:spPr>
          <a:xfrm>
            <a:off x="9814255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2000an–Kini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14255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Cloud &amp; AI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14255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iOS, Cloud OS, virtualisasi (Docker, Kubernetes), integrasi AI (Copilot, Apple Intelligence).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11521440" y="2834640"/>
            <a:ext cx="0" cy="182880"/>
          </a:xfrm>
          <a:prstGeom prst="line">
            <a:avLst/>
          </a:prstGeom>
          <a:noFill/>
          <a:ln w="19050">
            <a:solidFill>
              <a:srgbClr val="D7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Penerapan Sistem Operasi dalam Kehidupan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bekerja di balik layar berbagai perangkat di sekitar kita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2F6FA6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_assets/icons/mobile_2F6F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697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&amp; Tablet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069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mengelola layar sentuh, sensor gyro, kamera, daya baterai, serta jaringan 5G.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16274D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0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_assets/icons/server_1627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697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Data Center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17720" y="4069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(RedHat, Ubuntu) mengoperasikan 90%+ server internet, layanan Google, dan streaming Netflix.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19456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22C1E0"/>
          </a:solidFill>
          <a:ln/>
        </p:spPr>
      </p:sp>
      <p:sp>
        <p:nvSpPr>
          <p:cNvPr id="17" name="Shape 13"/>
          <p:cNvSpPr/>
          <p:nvPr/>
        </p:nvSpPr>
        <p:spPr>
          <a:xfrm>
            <a:off x="9509760" y="2514600"/>
            <a:ext cx="822960" cy="822960"/>
          </a:xfrm>
          <a:prstGeom prst="ellipse">
            <a:avLst/>
          </a:prstGeom>
          <a:solidFill>
            <a:srgbClr val="16274D"/>
          </a:solidFill>
          <a:ln/>
        </p:spPr>
      </p:sp>
      <p:pic>
        <p:nvPicPr>
          <p:cNvPr id="18" name="Image 2" descr="/home/claude/ppt_assets/icons/ro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6974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&amp; IoT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12480" y="4069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A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(Real-Time OS) bekerja pada Smart TV, ATM, navigasi pesawat, hingga rem ABS otomotif.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234B7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Materi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merupakan fondasi utama sistem komputer modern yang menghubungkan pengguna dan aplikasi dengan perangkat keras. OS menjalankan 7 fungsi utama meliputi manajemen proses, memori, berkas, I/O, keamanan, antarmuka pengguna, dan jaringan — dan terus berevolusi dari era Batch System hingga era komputasi awan, virtualisasi, dan integrasi Artificial Intelligence.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22C1E0"/>
          </a:solidFill>
          <a:ln/>
        </p:spPr>
      </p:sp>
      <p:pic>
        <p:nvPicPr>
          <p:cNvPr id="8" name="Image 0" descr="/home/claude/ppt_assets/icons/cogs_1627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6499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= jembatan antara pengguna, software, dan hardware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2C1E0"/>
          </a:solidFill>
          <a:ln/>
        </p:spPr>
      </p:sp>
      <p:pic>
        <p:nvPicPr>
          <p:cNvPr id="11" name="Image 1" descr="/home/claude/ppt_assets/icons/layers_1627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593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840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dalam arsitektur berlapis: User → Aplikasi → OS Kernel → Driver → Hardware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2C1E0"/>
          </a:solidFill>
          <a:ln/>
        </p:spPr>
      </p:sp>
      <p:pic>
        <p:nvPicPr>
          <p:cNvPr id="14" name="Image 2" descr="/home/claude/ppt_assets/icons/bolt_1627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5537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434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fungsi utama berjalan paralel demi stabilitas &amp; kinerja komputer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22C1E0"/>
          </a:solidFill>
          <a:ln/>
        </p:spPr>
      </p:sp>
      <p:pic>
        <p:nvPicPr>
          <p:cNvPr id="17" name="Image 3" descr="/home/claude/ppt_assets/icons/terminal_1627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1480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029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memudahkan pemula; CLI unggul untuk otomasi &amp; server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Glosarium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Istilah-istilah kunci dalam materi Sistem Operasi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585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terpusat sistem operasi yang mengontrol akses perangkat keras secara langsung.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585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62432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lunak penerjemah perintah antara sistem operasi dan perangkat keras spesifik.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130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17880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OS menjalankan lebih dari satu proses/aplikasi pada waktu bersamaan.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8130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417880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prosedural yang memungkinkan program meminta layanan dari kernel 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675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7332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— antarmuka pengguna berbasis grafis/visual.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52578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53675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57332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 — antarmuka pengguna berbasis baris perintah teks.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F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Refleksi Pembelajaran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mengakhiri sesi, tuliskan refleksimu pada Jurnal Refleksi Peserta Didik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50592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8" name="Image 0" descr="/home/claude/ppt_assets/icons/comm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877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19456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perasaanmu mengikuti pembelajaran hari ini — senang, bingung, atau tertarik?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685032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12" name="Image 1" descr="/home/claude/ppt_assets/icons/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221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42900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pemahaman baru yang kamu dapatkan hari ini tentang sistem operasi?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blurRad="63500" dist="25400" dir="5400000" algn="bl" rotWithShape="0">
              <a:srgbClr val="9FB0C7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919472"/>
            <a:ext cx="548640" cy="548640"/>
          </a:xfrm>
          <a:prstGeom prst="ellipse">
            <a:avLst/>
          </a:prstGeom>
          <a:solidFill>
            <a:srgbClr val="2F6FA6"/>
          </a:solidFill>
          <a:ln/>
        </p:spPr>
      </p:sp>
      <p:pic>
        <p:nvPicPr>
          <p:cNvPr id="16" name="Image 2" descr="/home/claude/ppt_assets/icons/questi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5663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66344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materi apa yang masih belum kamu pahami dengan baik?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6274D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selanjutnya: mendalami interaksi GUI dan CLI secara langsung melalui praktik terbimbing.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 Komputer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1968</Words>
  <Application>Microsoft Office PowerPoint</Application>
  <PresentationFormat>Widescreen</PresentationFormat>
  <Paragraphs>322</Paragraphs>
  <Slides>20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allipms007@gmail.com</cp:lastModifiedBy>
  <cp:revision>2</cp:revision>
  <dcterms:created xsi:type="dcterms:W3CDTF">2026-08-03T08:00:56Z</dcterms:created>
  <dcterms:modified xsi:type="dcterms:W3CDTF">2026-08-03T08:06:53Z</dcterms:modified>
</cp:coreProperties>
</file>